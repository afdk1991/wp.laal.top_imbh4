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1277295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>
                <a:solidFill>
                  <a:srgbClr val="2C3E50"/>
                </a:solidFill>
              </a:defRPr>
            </a:pPr>
            <a:r>
              <a:t>架构风险分析</a:t>
            </a:r>
          </a:p>
          <a:p>
            <a:pPr algn="ctr">
              <a:defRPr sz="2400">
                <a:solidFill>
                  <a:srgbClr val="3498DB"/>
                </a:solidFill>
              </a:defRPr>
            </a:pPr>
            <a:r>
              <a:t>MIXMLAAL 分析报告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72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2C3E50"/>
                </a:solidFill>
              </a:defRPr>
            </a:pPr>
            <a:r>
              <a:t>MIXMLAAL 项目架构风险分析报告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112772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34495E"/>
                </a:solidFill>
              </a:defRPr>
            </a:pPr>
            <a:r>
              <a:t>【一、架构风险点识别】</a:t>
            </a:r>
          </a:p>
          <a:p>
            <a:pPr>
              <a:spcAft>
                <a:spcPts val="800"/>
              </a:spcAft>
              <a:defRPr sz="1800">
                <a:solidFill>
                  <a:srgbClr val="34495E"/>
                </a:solidFill>
              </a:defRPr>
            </a:pPr>
            <a:r>
              <a:t>**1. 服务边界模糊风险**</a:t>
            </a:r>
          </a:p>
          <a:p>
            <a:pPr>
              <a:spcAft>
                <a:spcPts val="800"/>
              </a:spcAft>
              <a:defRPr sz="1800">
                <a:solidFill>
                  <a:srgbClr val="34495E"/>
                </a:solidFill>
              </a:defRPr>
            </a:pPr>
            <a:r>
              <a:t>• order-service 与 payment-service 之间存在职责交叉</a:t>
            </a:r>
          </a:p>
          <a:p>
            <a:pPr>
              <a:spcAft>
                <a:spcPts val="800"/>
              </a:spcAft>
              <a:defRPr sz="1800">
                <a:solidFill>
                  <a:srgbClr val="34495E"/>
                </a:solidFill>
              </a:defRPr>
            </a:pPr>
            <a:r>
              <a:t>• driver-service 同时处理外卖骑手和打车司机</a:t>
            </a:r>
          </a:p>
          <a:p>
            <a:pPr>
              <a:spcAft>
                <a:spcPts val="800"/>
              </a:spcAft>
              <a:defRPr sz="1800">
                <a:solidFill>
                  <a:srgbClr val="34495E"/>
                </a:solidFill>
              </a:defRPr>
            </a:pPr>
            <a:r>
              <a:t>• 位置服务与订单服务耦合度较高</a:t>
            </a:r>
          </a:p>
          <a:p>
            <a:pPr>
              <a:spcAft>
                <a:spcPts val="800"/>
              </a:spcAft>
              <a:defRPr sz="1800">
                <a:solidFill>
                  <a:srgbClr val="34495E"/>
                </a:solidFill>
              </a:defRPr>
            </a:pPr>
            <a:r>
              <a:t>**2. 服务间同步调用过多**</a:t>
            </a:r>
          </a:p>
          <a:p>
            <a:pPr>
              <a:spcAft>
                <a:spcPts val="800"/>
              </a:spcAft>
              <a:defRPr sz="1800">
                <a:solidFill>
                  <a:srgbClr val="34495E"/>
                </a:solidFill>
              </a:defRPr>
            </a:pPr>
            <a:r>
              <a:t>• 当前架构中可能存在服务间同步调用链路过长</a:t>
            </a:r>
          </a:p>
          <a:p>
            <a:pPr>
              <a:spcAft>
                <a:spcPts val="800"/>
              </a:spcAft>
              <a:defRPr sz="1800">
                <a:solidFill>
                  <a:srgbClr val="34495E"/>
                </a:solidFill>
              </a:defRPr>
            </a:pPr>
            <a:r>
              <a:t>• 一次订单创建可能触发 3-5 个服务的同步通信</a:t>
            </a:r>
          </a:p>
          <a:p>
            <a:pPr>
              <a:spcAft>
                <a:spcPts val="800"/>
              </a:spcAft>
              <a:defRPr sz="1800">
                <a:solidFill>
                  <a:srgbClr val="34495E"/>
                </a:solidFill>
              </a:defRPr>
            </a:pPr>
            <a:r>
              <a:t>• 建议：评估是否需要引入异步事件驱动模式</a:t>
            </a:r>
          </a:p>
          <a:p>
            <a:pPr>
              <a:spcAft>
                <a:spcPts val="800"/>
              </a:spcAft>
              <a:defRPr sz="1800">
                <a:solidFill>
                  <a:srgbClr val="34495E"/>
                </a:solidFill>
              </a:defRPr>
            </a:pPr>
            <a:r>
              <a:t>**3. 跨服务数据一致性**</a:t>
            </a:r>
          </a:p>
          <a:p>
            <a:pPr>
              <a:spcAft>
                <a:spcPts val="800"/>
              </a:spcAft>
              <a:defRPr sz="1800">
                <a:solidFill>
                  <a:srgbClr val="34495E"/>
                </a:solidFill>
              </a:defRPr>
            </a:pPr>
            <a:r>
              <a:t>┌─────────────────────────────────────────────────────────┐</a:t>
            </a:r>
          </a:p>
          <a:p>
            <a:pPr>
              <a:spcAft>
                <a:spcPts val="800"/>
              </a:spcAft>
              <a:defRPr sz="1800">
                <a:solidFill>
                  <a:srgbClr val="34495E"/>
                </a:solidFill>
              </a:defRPr>
            </a:pPr>
            <a:r>
              <a:t>│  用户下单流程（涉及多个服务）                             │</a:t>
            </a:r>
          </a:p>
          <a:p>
            <a:pPr>
              <a:spcAft>
                <a:spcPts val="800"/>
              </a:spcAft>
              <a:defRPr sz="1800">
                <a:solidFill>
                  <a:srgbClr val="34495E"/>
                </a:solidFill>
              </a:defRPr>
            </a:pPr>
            <a:r>
              <a:t>├─────────────────────────────────────────────────────────┤</a:t>
            </a:r>
          </a:p>
          <a:p>
            <a:pPr>
              <a:spcAft>
                <a:spcPts val="800"/>
              </a:spcAft>
              <a:defRPr sz="1800">
                <a:solidFill>
                  <a:srgbClr val="34495E"/>
                </a:solidFill>
              </a:defRPr>
            </a:pPr>
            <a:r>
              <a:t>│                                                         │</a:t>
            </a:r>
          </a:p>
          <a:p>
            <a:pPr>
              <a:spcAft>
                <a:spcPts val="800"/>
              </a:spcAft>
              <a:defRPr sz="1800">
                <a:solidFill>
                  <a:srgbClr val="34495E"/>
                </a:solidFill>
              </a:defRPr>
            </a:pPr>
            <a:r>
              <a:t>│  1. order-service: 创建订单 [订单状态: PENDING]          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72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2C3E50"/>
                </a:solidFill>
              </a:defRPr>
            </a:pPr>
            <a:r>
              <a:t>Kafka 配置优化建议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112772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34495E"/>
                </a:solidFill>
              </a:defRPr>
            </a:pPr>
            <a:r>
              <a:t>producer:</a:t>
            </a:r>
          </a:p>
          <a:p>
            <a:pPr>
              <a:spcAft>
                <a:spcPts val="800"/>
              </a:spcAft>
              <a:defRPr sz="1800">
                <a:solidFill>
                  <a:srgbClr val="34495E"/>
                </a:solidFill>
              </a:defRPr>
            </a:pPr>
            <a:r>
              <a:t>acks: all              # 确保所有副本确认</a:t>
            </a:r>
          </a:p>
          <a:p>
            <a:pPr>
              <a:spcAft>
                <a:spcPts val="800"/>
              </a:spcAft>
              <a:defRPr sz="1800">
                <a:solidFill>
                  <a:srgbClr val="34495E"/>
                </a:solidFill>
              </a:defRPr>
            </a:pPr>
            <a:r>
              <a:t>retries: 3             # 重试次数</a:t>
            </a:r>
          </a:p>
          <a:p>
            <a:pPr>
              <a:spcAft>
                <a:spcPts val="800"/>
              </a:spcAft>
              <a:defRPr sz="1800">
                <a:solidFill>
                  <a:srgbClr val="34495E"/>
                </a:solidFill>
              </a:defRPr>
            </a:pPr>
            <a:r>
              <a:t>enable.idempotence: true  # 开启幂等性</a:t>
            </a:r>
          </a:p>
          <a:p>
            <a:pPr>
              <a:spcAft>
                <a:spcPts val="800"/>
              </a:spcAft>
              <a:defRPr sz="1800">
                <a:solidFill>
                  <a:srgbClr val="34495E"/>
                </a:solidFill>
              </a:defRPr>
            </a:pPr>
            <a:r>
              <a:t>consumer:</a:t>
            </a:r>
          </a:p>
          <a:p>
            <a:pPr>
              <a:spcAft>
                <a:spcPts val="800"/>
              </a:spcAft>
              <a:defRPr sz="1800">
                <a:solidFill>
                  <a:srgbClr val="34495E"/>
                </a:solidFill>
              </a:defRPr>
            </a:pPr>
            <a:r>
              <a:t>auto.offset.reset: earliest</a:t>
            </a:r>
          </a:p>
          <a:p>
            <a:pPr>
              <a:spcAft>
                <a:spcPts val="800"/>
              </a:spcAft>
              <a:defRPr sz="1800">
                <a:solidFill>
                  <a:srgbClr val="34495E"/>
                </a:solidFill>
              </a:defRPr>
            </a:pPr>
            <a:r>
              <a:t>enable.auto.commit: false  # 手动提交</a:t>
            </a:r>
          </a:p>
          <a:p>
            <a:pPr>
              <a:spcAft>
                <a:spcPts val="800"/>
              </a:spcAft>
              <a:defRPr sz="1800">
                <a:solidFill>
                  <a:srgbClr val="34495E"/>
                </a:solidFill>
              </a:defRPr>
            </a:pPr>
            <a:r>
              <a:t>max.poll.records: 500</a:t>
            </a:r>
          </a:p>
          <a:p>
            <a:pPr>
              <a:spcAft>
                <a:spcPts val="800"/>
              </a:spcAft>
              <a:defRPr sz="1800">
                <a:solidFill>
                  <a:srgbClr val="34495E"/>
                </a:solidFill>
              </a:defRPr>
            </a:pPr>
            <a:r>
              <a:t>topic:</a:t>
            </a:r>
          </a:p>
          <a:p>
            <a:pPr>
              <a:spcAft>
                <a:spcPts val="800"/>
              </a:spcAft>
              <a:defRPr sz="1800">
                <a:solidFill>
                  <a:srgbClr val="34495E"/>
                </a:solidFill>
              </a:defRPr>
            </a:pPr>
            <a:r>
              <a:t>replication.factor: 3      # 副本数</a:t>
            </a:r>
          </a:p>
          <a:p>
            <a:pPr>
              <a:spcAft>
                <a:spcPts val="800"/>
              </a:spcAft>
              <a:defRPr sz="1800">
                <a:solidFill>
                  <a:srgbClr val="34495E"/>
                </a:solidFill>
              </a:defRPr>
            </a:pPr>
            <a:r>
              <a:t>min.insync.replicas: 2      # 最小同步副本</a:t>
            </a:r>
          </a:p>
          <a:p>
            <a:pPr>
              <a:spcAft>
                <a:spcPts val="800"/>
              </a:spcAft>
              <a:defRPr sz="1800">
                <a:solidFill>
                  <a:srgbClr val="34495E"/>
                </a:solidFill>
              </a:defRPr>
            </a:pPr>
            <a:r>
              <a:t>┌─────────────────────────────────────────────────────────┐</a:t>
            </a:r>
          </a:p>
          <a:p>
            <a:pPr>
              <a:spcAft>
                <a:spcPts val="800"/>
              </a:spcAft>
              <a:defRPr sz="1800">
                <a:solidFill>
                  <a:srgbClr val="34495E"/>
                </a:solidFill>
              </a:defRPr>
            </a:pPr>
            <a:r>
              <a:t>│                  API Gateway 单点故障                    │</a:t>
            </a:r>
          </a:p>
          <a:p>
            <a:pPr>
              <a:spcAft>
                <a:spcPts val="800"/>
              </a:spcAft>
              <a:defRPr sz="1800">
                <a:solidFill>
                  <a:srgbClr val="34495E"/>
                </a:solidFill>
              </a:defRPr>
            </a:pPr>
            <a:r>
              <a:t>├─────────────────────────────────────────────────────────┤</a:t>
            </a:r>
          </a:p>
          <a:p>
            <a:pPr>
              <a:spcAft>
                <a:spcPts val="800"/>
              </a:spcAft>
              <a:defRPr sz="1800">
                <a:solidFill>
                  <a:srgbClr val="34495E"/>
                </a:solidFill>
              </a:defRPr>
            </a:pPr>
            <a:r>
              <a:t>│                                                         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72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2C3E50"/>
                </a:solidFill>
              </a:defRPr>
            </a:pPr>
            <a:r>
              <a:t>缓存更新最佳实践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112772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34495E"/>
                </a:solidFill>
              </a:defRPr>
            </a:pPr>
            <a:r>
              <a:t>async def update_user_cache(user_id: str, data: dict):</a:t>
            </a:r>
          </a:p>
          <a:p>
            <a:pPr>
              <a:spcAft>
                <a:spcPts val="800"/>
              </a:spcAft>
              <a:defRPr sz="1800">
                <a:solidFill>
                  <a:srgbClr val="34495E"/>
                </a:solidFill>
              </a:defRPr>
            </a:pPr>
            <a:r>
              <a:t>采用 Cache Aside + 延迟双删策略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72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2C3E50"/>
                </a:solidFill>
              </a:defRPr>
            </a:pPr>
            <a:r>
              <a:t>1. 先更新数据库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112772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34495E"/>
                </a:solidFill>
              </a:defRPr>
            </a:pPr>
            <a:r>
              <a:t>await db.update('users', user_id, data)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72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2C3E50"/>
                </a:solidFill>
              </a:defRPr>
            </a:pPr>
            <a:r>
              <a:t>2. 删除缓存（延迟删除）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112772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34495E"/>
                </a:solidFill>
              </a:defRPr>
            </a:pPr>
            <a:r>
              <a:t>await redis.delete(f'user:{user_id}')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72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2C3E50"/>
                </a:solidFill>
              </a:defRPr>
            </a:pPr>
            <a:r>
              <a:t>3. 延迟再次删除（处理并发）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112772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34495E"/>
                </a:solidFill>
              </a:defRPr>
            </a:pPr>
            <a:r>
              <a:t>await asyncio.sleep(0.5)</a:t>
            </a:r>
          </a:p>
          <a:p>
            <a:pPr>
              <a:spcAft>
                <a:spcPts val="800"/>
              </a:spcAft>
              <a:defRPr sz="1800">
                <a:solidFill>
                  <a:srgbClr val="34495E"/>
                </a:solidFill>
              </a:defRPr>
            </a:pPr>
            <a:r>
              <a:t>await redis.delete(f'user:{user_id}')</a:t>
            </a:r>
          </a:p>
          <a:p>
            <a:pPr>
              <a:spcAft>
                <a:spcPts val="800"/>
              </a:spcAft>
              <a:defRPr sz="1800">
                <a:solidFill>
                  <a:srgbClr val="34495E"/>
                </a:solidFill>
              </a:defRPr>
            </a:pPr>
            <a:r>
              <a:t>return True</a:t>
            </a:r>
          </a:p>
          <a:p>
            <a:pPr>
              <a:spcAft>
                <a:spcPts val="800"/>
              </a:spcAft>
              <a:defRPr sz="1800">
                <a:solidFill>
                  <a:srgbClr val="34495E"/>
                </a:solidFill>
              </a:defRPr>
            </a:pPr>
            <a:r>
              <a:t>服务调用链示例：</a:t>
            </a:r>
          </a:p>
          <a:p>
            <a:pPr>
              <a:spcAft>
                <a:spcPts val="800"/>
              </a:spcAft>
              <a:defRPr sz="1800">
                <a:solidFill>
                  <a:srgbClr val="34495E"/>
                </a:solidFill>
              </a:defRPr>
            </a:pPr>
            <a:r>
              <a:t>┌────────────────────────────────────────────────────────────┐</a:t>
            </a:r>
          </a:p>
          <a:p>
            <a:pPr>
              <a:spcAft>
                <a:spcPts val="800"/>
              </a:spcAft>
              <a:defRPr sz="1800">
                <a:solidFill>
                  <a:srgbClr val="34495E"/>
                </a:solidFill>
              </a:defRPr>
            </a:pPr>
            <a:r>
              <a:t>│                      同步调用链                              │</a:t>
            </a:r>
          </a:p>
          <a:p>
            <a:pPr>
              <a:spcAft>
                <a:spcPts val="800"/>
              </a:spcAft>
              <a:defRPr sz="1800">
                <a:solidFill>
                  <a:srgbClr val="34495E"/>
                </a:solidFill>
              </a:defRPr>
            </a:pPr>
            <a:r>
              <a:t>├────────────────────────────────────────────────────────────┤</a:t>
            </a:r>
          </a:p>
          <a:p>
            <a:pPr>
              <a:spcAft>
                <a:spcPts val="800"/>
              </a:spcAft>
              <a:defRPr sz="1800">
                <a:solidFill>
                  <a:srgbClr val="34495E"/>
                </a:solidFill>
              </a:defRPr>
            </a:pPr>
            <a:r>
              <a:t>│                                                            │</a:t>
            </a:r>
          </a:p>
          <a:p>
            <a:pPr>
              <a:spcAft>
                <a:spcPts val="800"/>
              </a:spcAft>
              <a:defRPr sz="1800">
                <a:solidFill>
                  <a:srgbClr val="34495E"/>
                </a:solidFill>
              </a:defRPr>
            </a:pPr>
            <a:r>
              <a:t>│  client → API GW → user-service → order-service           │</a:t>
            </a:r>
          </a:p>
          <a:p>
            <a:pPr>
              <a:spcAft>
                <a:spcPts val="800"/>
              </a:spcAft>
              <a:defRPr sz="1800">
                <a:solidFill>
                  <a:srgbClr val="34495E"/>
                </a:solidFill>
              </a:defRPr>
            </a:pPr>
            <a:r>
              <a:t>│                     ↓                   ↓                  │</a:t>
            </a:r>
          </a:p>
          <a:p>
            <a:pPr>
              <a:spcAft>
                <a:spcPts val="800"/>
              </a:spcAft>
              <a:defRPr sz="1800">
                <a:solidFill>
                  <a:srgbClr val="34495E"/>
                </a:solidFill>
              </a:defRPr>
            </a:pPr>
            <a:r>
              <a:t>│               driver-service   payment-service             │</a:t>
            </a:r>
          </a:p>
          <a:p>
            <a:pPr>
              <a:spcAft>
                <a:spcPts val="800"/>
              </a:spcAft>
              <a:defRPr sz="1800">
                <a:solidFill>
                  <a:srgbClr val="34495E"/>
                </a:solidFill>
              </a:defRPr>
            </a:pPr>
            <a:r>
              <a:t>│                     ↓                   ↓                  │</a:t>
            </a:r>
          </a:p>
          <a:p>
            <a:pPr>
              <a:spcAft>
                <a:spcPts val="800"/>
              </a:spcAft>
              <a:defRPr sz="1800">
                <a:solidFill>
                  <a:srgbClr val="34495E"/>
                </a:solidFill>
              </a:defRPr>
            </a:pPr>
            <a:r>
              <a:t>│               location-service ← notification-service      │</a:t>
            </a:r>
          </a:p>
          <a:p>
            <a:pPr>
              <a:spcAft>
                <a:spcPts val="800"/>
              </a:spcAft>
              <a:defRPr sz="1800">
                <a:solidFill>
                  <a:srgbClr val="34495E"/>
                </a:solidFill>
              </a:defRPr>
            </a:pPr>
            <a:r>
              <a:t>│                                                            │</a:t>
            </a:r>
          </a:p>
          <a:p>
            <a:pPr>
              <a:spcAft>
                <a:spcPts val="800"/>
              </a:spcAft>
              <a:defRPr sz="1800">
                <a:solidFill>
                  <a:srgbClr val="34495E"/>
                </a:solidFill>
              </a:defRPr>
            </a:pPr>
            <a:r>
              <a:t>│  潜在问题：                                                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72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2C3E50"/>
                </a:solidFill>
              </a:defRPr>
            </a:pPr>
            <a:r>
              <a:t>订单创建 Saga 流程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112772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34495E"/>
                </a:solidFill>
              </a:defRPr>
            </a:pPr>
            <a:r>
              <a:t>class OrderSaga:</a:t>
            </a:r>
          </a:p>
          <a:p>
            <a:pPr>
              <a:spcAft>
                <a:spcPts val="800"/>
              </a:spcAft>
              <a:defRPr sz="1800">
                <a:solidFill>
                  <a:srgbClr val="34495E"/>
                </a:solidFill>
              </a:defRPr>
            </a:pPr>
            <a:r>
              <a:t>订单创建 Saga 编排器</a:t>
            </a:r>
          </a:p>
          <a:p>
            <a:pPr>
              <a:spcAft>
                <a:spcPts val="800"/>
              </a:spcAft>
              <a:defRPr sz="1800">
                <a:solidFill>
                  <a:srgbClr val="34495E"/>
                </a:solidFill>
              </a:defRPr>
            </a:pPr>
            <a:r>
              <a:t>steps = [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72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2C3E50"/>
                </a:solidFill>
              </a:defRPr>
            </a:pPr>
            <a:r>
              <a:t>Step 1: 预创建订单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112772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34495E"/>
                </a:solidFill>
              </a:defRPr>
            </a:pPr>
            <a:r>
              <a:t>SagaStep(</a:t>
            </a:r>
          </a:p>
          <a:p>
            <a:pPr>
              <a:spcAft>
                <a:spcPts val="800"/>
              </a:spcAft>
              <a:defRPr sz="1800">
                <a:solidFill>
                  <a:srgbClr val="34495E"/>
                </a:solidFill>
              </a:defRPr>
            </a:pPr>
            <a:r>
              <a:t>name='create_order',</a:t>
            </a:r>
          </a:p>
          <a:p>
            <a:pPr>
              <a:spcAft>
                <a:spcPts val="800"/>
              </a:spcAft>
              <a:defRPr sz="1800">
                <a:solidFill>
                  <a:srgbClr val="34495E"/>
                </a:solidFill>
              </a:defRPr>
            </a:pPr>
            <a:r>
              <a:t>action=create_order_pending,</a:t>
            </a:r>
          </a:p>
          <a:p>
            <a:pPr>
              <a:spcAft>
                <a:spcPts val="800"/>
              </a:spcAft>
              <a:defRPr sz="1800">
                <a:solidFill>
                  <a:srgbClr val="34495E"/>
                </a:solidFill>
              </a:defRPr>
            </a:pPr>
            <a:r>
              <a:t>compensation=cancel_order,</a:t>
            </a:r>
          </a:p>
          <a:p>
            <a:pPr>
              <a:spcAft>
                <a:spcPts val="800"/>
              </a:spcAft>
              <a:defRPr sz="1800">
                <a:solidFill>
                  <a:srgbClr val="34495E"/>
                </a:solidFill>
              </a:defRPr>
            </a:pPr>
            <a:r>
              <a:t>retry=3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72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2C3E50"/>
                </a:solidFill>
              </a:defRPr>
            </a:pPr>
            <a:r>
              <a:t>Step 2: 锁定库存/司机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112772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34495E"/>
                </a:solidFill>
              </a:defRPr>
            </a:pPr>
            <a:r>
              <a:t>SagaStep(</a:t>
            </a:r>
          </a:p>
          <a:p>
            <a:pPr>
              <a:spcAft>
                <a:spcPts val="800"/>
              </a:spcAft>
              <a:defRPr sz="1800">
                <a:solidFill>
                  <a:srgbClr val="34495E"/>
                </a:solidFill>
              </a:defRPr>
            </a:pPr>
            <a:r>
              <a:t>name='allocate_driver',</a:t>
            </a:r>
          </a:p>
          <a:p>
            <a:pPr>
              <a:spcAft>
                <a:spcPts val="800"/>
              </a:spcAft>
              <a:defRPr sz="1800">
                <a:solidFill>
                  <a:srgbClr val="34495E"/>
                </a:solidFill>
              </a:defRPr>
            </a:pPr>
            <a:r>
              <a:t>action=allocate_driver,</a:t>
            </a:r>
          </a:p>
          <a:p>
            <a:pPr>
              <a:spcAft>
                <a:spcPts val="800"/>
              </a:spcAft>
              <a:defRPr sz="1800">
                <a:solidFill>
                  <a:srgbClr val="34495E"/>
                </a:solidFill>
              </a:defRPr>
            </a:pPr>
            <a:r>
              <a:t>compensation=release_driver,</a:t>
            </a:r>
          </a:p>
          <a:p>
            <a:pPr>
              <a:spcAft>
                <a:spcPts val="800"/>
              </a:spcAft>
              <a:defRPr sz="1800">
                <a:solidFill>
                  <a:srgbClr val="34495E"/>
                </a:solidFill>
              </a:defRPr>
            </a:pPr>
            <a:r>
              <a:t>retry=5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72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2C3E50"/>
                </a:solidFill>
              </a:defRPr>
            </a:pPr>
            <a:r>
              <a:t>Step 3: 预扣支付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112772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34495E"/>
                </a:solidFill>
              </a:defRPr>
            </a:pPr>
            <a:r>
              <a:t>SagaStep(</a:t>
            </a:r>
          </a:p>
          <a:p>
            <a:pPr>
              <a:spcAft>
                <a:spcPts val="800"/>
              </a:spcAft>
              <a:defRPr sz="1800">
                <a:solidFill>
                  <a:srgbClr val="34495E"/>
                </a:solidFill>
              </a:defRPr>
            </a:pPr>
            <a:r>
              <a:t>name='preauthorize_payment',</a:t>
            </a:r>
          </a:p>
          <a:p>
            <a:pPr>
              <a:spcAft>
                <a:spcPts val="800"/>
              </a:spcAft>
              <a:defRPr sz="1800">
                <a:solidFill>
                  <a:srgbClr val="34495E"/>
                </a:solidFill>
              </a:defRPr>
            </a:pPr>
            <a:r>
              <a:t>action=preauthorize_payment,</a:t>
            </a:r>
          </a:p>
          <a:p>
            <a:pPr>
              <a:spcAft>
                <a:spcPts val="800"/>
              </a:spcAft>
              <a:defRPr sz="1800">
                <a:solidFill>
                  <a:srgbClr val="34495E"/>
                </a:solidFill>
              </a:defRPr>
            </a:pPr>
            <a:r>
              <a:t>compensation=release_payment,</a:t>
            </a:r>
          </a:p>
          <a:p>
            <a:pPr>
              <a:spcAft>
                <a:spcPts val="800"/>
              </a:spcAft>
              <a:defRPr sz="1800">
                <a:solidFill>
                  <a:srgbClr val="34495E"/>
                </a:solidFill>
              </a:defRPr>
            </a:pPr>
            <a:r>
              <a:t>retry=2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72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2C3E50"/>
                </a:solidFill>
              </a:defRPr>
            </a:pPr>
            <a:r>
              <a:t>Step 4: 确认订单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112772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34495E"/>
                </a:solidFill>
              </a:defRPr>
            </a:pPr>
            <a:r>
              <a:t>SagaStep(</a:t>
            </a:r>
          </a:p>
          <a:p>
            <a:pPr>
              <a:spcAft>
                <a:spcPts val="800"/>
              </a:spcAft>
              <a:defRPr sz="1800">
                <a:solidFill>
                  <a:srgbClr val="34495E"/>
                </a:solidFill>
              </a:defRPr>
            </a:pPr>
            <a:r>
              <a:t>name='confirm_order',</a:t>
            </a:r>
          </a:p>
          <a:p>
            <a:pPr>
              <a:spcAft>
                <a:spcPts val="800"/>
              </a:spcAft>
              <a:defRPr sz="1800">
                <a:solidFill>
                  <a:srgbClr val="34495E"/>
                </a:solidFill>
              </a:defRPr>
            </a:pPr>
            <a:r>
              <a:t>action=confirm_order,</a:t>
            </a:r>
          </a:p>
          <a:p>
            <a:pPr>
              <a:spcAft>
                <a:spcPts val="800"/>
              </a:spcAft>
              <a:defRPr sz="1800">
                <a:solidFill>
                  <a:srgbClr val="34495E"/>
                </a:solidFill>
              </a:defRPr>
            </a:pPr>
            <a:r>
              <a:t>compensation=None,  # 最终步骤不可逆</a:t>
            </a:r>
          </a:p>
          <a:p>
            <a:pPr>
              <a:spcAft>
                <a:spcPts val="800"/>
              </a:spcAft>
              <a:defRPr sz="1800">
                <a:solidFill>
                  <a:srgbClr val="34495E"/>
                </a:solidFill>
              </a:defRPr>
            </a:pPr>
            <a:r>
              <a:t>retry=0</a:t>
            </a:r>
          </a:p>
          <a:p>
            <a:pPr>
              <a:spcAft>
                <a:spcPts val="800"/>
              </a:spcAft>
              <a:defRPr sz="1800">
                <a:solidFill>
                  <a:srgbClr val="34495E"/>
                </a:solidFill>
              </a:defRPr>
            </a:pPr>
            <a:r>
              <a:t>**安全检查清单：**</a:t>
            </a:r>
          </a:p>
          <a:p>
            <a:pPr>
              <a:spcAft>
                <a:spcPts val="800"/>
              </a:spcAft>
              <a:defRPr sz="1800">
                <a:solidFill>
                  <a:srgbClr val="34495E"/>
                </a:solidFill>
              </a:defRPr>
            </a:pPr>
            <a:r>
              <a:t>**支付安全架构：**</a:t>
            </a:r>
          </a:p>
          <a:p>
            <a:pPr>
              <a:spcAft>
                <a:spcPts val="800"/>
              </a:spcAft>
              <a:defRPr sz="1800">
                <a:solidFill>
                  <a:srgbClr val="34495E"/>
                </a:solidFill>
              </a:defRPr>
            </a:pPr>
            <a:r>
              <a:t>┌─────────────────────────────────────────────────────────┐</a:t>
            </a:r>
          </a:p>
          <a:p>
            <a:pPr>
              <a:spcAft>
                <a:spcPts val="800"/>
              </a:spcAft>
              <a:defRPr sz="1800">
                <a:solidFill>
                  <a:srgbClr val="34495E"/>
                </a:solidFill>
              </a:defRPr>
            </a:pPr>
            <a:r>
              <a:t>│                  支付安全架构                             │</a:t>
            </a:r>
          </a:p>
          <a:p>
            <a:pPr>
              <a:spcAft>
                <a:spcPts val="800"/>
              </a:spcAft>
              <a:defRPr sz="1800">
                <a:solidFill>
                  <a:srgbClr val="34495E"/>
                </a:solidFill>
              </a:defRPr>
            </a:pPr>
            <a:r>
              <a:t>├─────────────────────────────────────────────────────────┤</a:t>
            </a:r>
          </a:p>
          <a:p>
            <a:pPr>
              <a:spcAft>
                <a:spcPts val="800"/>
              </a:spcAft>
              <a:defRPr sz="1800">
                <a:solidFill>
                  <a:srgbClr val="34495E"/>
                </a:solidFill>
              </a:defRPr>
            </a:pPr>
            <a:r>
              <a:t>│                                                         │</a:t>
            </a:r>
          </a:p>
          <a:p>
            <a:pPr>
              <a:spcAft>
                <a:spcPts val="800"/>
              </a:spcAft>
              <a:defRPr sz="1800">
                <a:solidFill>
                  <a:srgbClr val="34495E"/>
                </a:solidFill>
              </a:defRPr>
            </a:pPr>
            <a:r>
              <a:t>│  用户层                                                  │</a:t>
            </a:r>
          </a:p>
          <a:p>
            <a:pPr>
              <a:spcAft>
                <a:spcPts val="800"/>
              </a:spcAft>
              <a:defRPr sz="1800">
                <a:solidFill>
                  <a:srgbClr val="34495E"/>
                </a:solidFill>
              </a:defRPr>
            </a:pPr>
            <a:r>
              <a:t>│  ├── 多因素认证（MFA）                                  │</a:t>
            </a:r>
          </a:p>
          <a:p>
            <a:pPr>
              <a:spcAft>
                <a:spcPts val="800"/>
              </a:spcAft>
              <a:defRPr sz="1800">
                <a:solidFill>
                  <a:srgbClr val="34495E"/>
                </a:solidFill>
              </a:defRPr>
            </a:pPr>
            <a:r>
              <a:t>│  ├── 生物识别                                          │</a:t>
            </a:r>
          </a:p>
          <a:p>
            <a:pPr>
              <a:spcAft>
                <a:spcPts val="800"/>
              </a:spcAft>
              <a:defRPr sz="1800">
                <a:solidFill>
                  <a:srgbClr val="34495E"/>
                </a:solidFill>
              </a:defRPr>
            </a:pPr>
            <a:r>
              <a:t>│  └── 设备指纹                                          │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72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2C3E50"/>
                </a:solidFill>
              </a:defRPr>
            </a:pPr>
            <a:r>
              <a:t>验证转换合法性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112772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34495E"/>
                </a:solidFill>
              </a:defRPr>
            </a:pPr>
            <a:r>
              <a:t>if target_status not in statusTransitions.get(order.status, []):</a:t>
            </a:r>
          </a:p>
          <a:p>
            <a:pPr>
              <a:spcAft>
                <a:spcPts val="800"/>
              </a:spcAft>
              <a:defRPr sz="1800">
                <a:solidFill>
                  <a:srgbClr val="34495E"/>
                </a:solidFill>
              </a:defRPr>
            </a:pPr>
            <a:r>
              <a:t>raise InvalidStatusTransition(</a:t>
            </a:r>
          </a:p>
          <a:p>
            <a:pPr>
              <a:spcAft>
                <a:spcPts val="800"/>
              </a:spcAft>
              <a:defRPr sz="1800">
                <a:solidFill>
                  <a:srgbClr val="34495E"/>
                </a:solidFill>
              </a:defRPr>
            </a:pPr>
            <a:r>
              <a:t>order_id=order_id,</a:t>
            </a:r>
          </a:p>
          <a:p>
            <a:pPr>
              <a:spcAft>
                <a:spcPts val="800"/>
              </a:spcAft>
              <a:defRPr sz="1800">
                <a:solidFill>
                  <a:srgbClr val="34495E"/>
                </a:solidFill>
              </a:defRPr>
            </a:pPr>
            <a:r>
              <a:t>current=order.status,</a:t>
            </a:r>
          </a:p>
          <a:p>
            <a:pPr>
              <a:spcAft>
                <a:spcPts val="800"/>
              </a:spcAft>
              <a:defRPr sz="1800">
                <a:solidFill>
                  <a:srgbClr val="34495E"/>
                </a:solidFill>
              </a:defRPr>
            </a:pPr>
            <a:r>
              <a:t>target=target_status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72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2C3E50"/>
                </a:solidFill>
              </a:defRPr>
            </a:pPr>
            <a:r>
              <a:t>执行转换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112772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34495E"/>
                </a:solidFill>
              </a:defRPr>
            </a:pPr>
            <a:r>
              <a:t>old_status = order.status</a:t>
            </a:r>
          </a:p>
          <a:p>
            <a:pPr>
              <a:spcAft>
                <a:spcPts val="800"/>
              </a:spcAft>
              <a:defRPr sz="1800">
                <a:solidFill>
                  <a:srgbClr val="34495E"/>
                </a:solidFill>
              </a:defRPr>
            </a:pPr>
            <a:r>
              <a:t>order.status = target_status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72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2C3E50"/>
                </a:solidFill>
              </a:defRPr>
            </a:pPr>
            <a:r>
              <a:t>持久化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112772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34495E"/>
                </a:solidFill>
              </a:defRPr>
            </a:pPr>
            <a:r>
              <a:t>await self.order_repo.save(order)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72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2C3E50"/>
                </a:solidFill>
              </a:defRPr>
            </a:pPr>
            <a:r>
              <a:t>发布状态变更事件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112772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34495E"/>
                </a:solidFill>
              </a:defRPr>
            </a:pPr>
            <a:r>
              <a:t>await self.event_publisher.publish(OrderStatusChanged(</a:t>
            </a:r>
          </a:p>
          <a:p>
            <a:pPr>
              <a:spcAft>
                <a:spcPts val="800"/>
              </a:spcAft>
              <a:defRPr sz="1800">
                <a:solidFill>
                  <a:srgbClr val="34495E"/>
                </a:solidFill>
              </a:defRPr>
            </a:pPr>
            <a:r>
              <a:t>order_id=order_id,</a:t>
            </a:r>
          </a:p>
          <a:p>
            <a:pPr>
              <a:spcAft>
                <a:spcPts val="800"/>
              </a:spcAft>
              <a:defRPr sz="1800">
                <a:solidFill>
                  <a:srgbClr val="34495E"/>
                </a:solidFill>
              </a:defRPr>
            </a:pPr>
            <a:r>
              <a:t>old_status=old_status,</a:t>
            </a:r>
          </a:p>
          <a:p>
            <a:pPr>
              <a:spcAft>
                <a:spcPts val="800"/>
              </a:spcAft>
              <a:defRPr sz="1800">
                <a:solidFill>
                  <a:srgbClr val="34495E"/>
                </a:solidFill>
              </a:defRPr>
            </a:pPr>
            <a:r>
              <a:t>new_status=target_status,</a:t>
            </a:r>
          </a:p>
          <a:p>
            <a:pPr>
              <a:spcAft>
                <a:spcPts val="800"/>
              </a:spcAft>
              <a:defRPr sz="1800">
                <a:solidFill>
                  <a:srgbClr val="34495E"/>
                </a:solidFill>
              </a:defRPr>
            </a:pPr>
            <a:r>
              <a:t>context=context,</a:t>
            </a:r>
          </a:p>
          <a:p>
            <a:pPr>
              <a:spcAft>
                <a:spcPts val="800"/>
              </a:spcAft>
              <a:defRPr sz="1800">
                <a:solidFill>
                  <a:srgbClr val="34495E"/>
                </a:solidFill>
              </a:defRPr>
            </a:pPr>
            <a:r>
              <a:t>timestamp=datetime.now()</a:t>
            </a:r>
          </a:p>
          <a:p>
            <a:pPr>
              <a:spcAft>
                <a:spcPts val="800"/>
              </a:spcAft>
              <a:defRPr sz="1800">
                <a:solidFill>
                  <a:srgbClr val="34495E"/>
                </a:solidFill>
              </a:defRPr>
            </a:pPr>
            <a:r>
              <a:t>return order</a:t>
            </a:r>
          </a:p>
          <a:p>
            <a:pPr>
              <a:spcAft>
                <a:spcPts val="800"/>
              </a:spcAft>
              <a:defRPr sz="1800">
                <a:solidFill>
                  <a:srgbClr val="34495E"/>
                </a:solidFill>
              </a:defRPr>
            </a:pPr>
            <a:r>
              <a:t>【四、风险汇总与优先级建议】</a:t>
            </a:r>
          </a:p>
          <a:p>
            <a:pPr>
              <a:spcAft>
                <a:spcPts val="800"/>
              </a:spcAft>
              <a:defRPr sz="1800">
                <a:solidFill>
                  <a:srgbClr val="34495E"/>
                </a:solidFill>
              </a:defRPr>
            </a:pPr>
            <a:r>
              <a:t>┌─────────────────────────────────────────────────────────┐</a:t>
            </a:r>
          </a:p>
          <a:p>
            <a:pPr>
              <a:spcAft>
                <a:spcPts val="800"/>
              </a:spcAft>
              <a:defRPr sz="1800">
                <a:solidFill>
                  <a:srgbClr val="34495E"/>
                </a:solidFill>
              </a:defRPr>
            </a:pPr>
            <a:r>
              <a:t>│                  架构优化路线图                            │</a:t>
            </a:r>
          </a:p>
          <a:p>
            <a:pPr>
              <a:spcAft>
                <a:spcPts val="800"/>
              </a:spcAft>
              <a:defRPr sz="1800">
                <a:solidFill>
                  <a:srgbClr val="34495E"/>
                </a:solidFill>
              </a:defRPr>
            </a:pPr>
            <a:r>
              <a:t>├─────────────────────────────────────────────────────────┤</a:t>
            </a:r>
          </a:p>
          <a:p>
            <a:pPr>
              <a:spcAft>
                <a:spcPts val="800"/>
              </a:spcAft>
              <a:defRPr sz="1800">
                <a:solidFill>
                  <a:srgbClr val="34495E"/>
                </a:solidFill>
              </a:defRPr>
            </a:pPr>
            <a:r>
              <a:t>│                                                         │</a:t>
            </a:r>
          </a:p>
          <a:p>
            <a:pPr>
              <a:spcAft>
                <a:spcPts val="800"/>
              </a:spcAft>
              <a:defRPr sz="1800">
                <a:solidFill>
                  <a:srgbClr val="34495E"/>
                </a:solidFill>
              </a:defRPr>
            </a:pPr>
            <a:r>
              <a:t>│  Q1 (1-3月)                                             │</a:t>
            </a:r>
          </a:p>
          <a:p>
            <a:pPr>
              <a:spcAft>
                <a:spcPts val="800"/>
              </a:spcAft>
              <a:defRPr sz="1800">
                <a:solidFill>
                  <a:srgbClr val="34495E"/>
                </a:solidFill>
              </a:defRPr>
            </a:pPr>
            <a:r>
              <a:t>│  ├── 🔴 P0: API Gateway 高可用                          │</a:t>
            </a:r>
          </a:p>
          <a:p>
            <a:pPr>
              <a:spcAft>
                <a:spcPts val="800"/>
              </a:spcAft>
              <a:defRPr sz="1800">
                <a:solidFill>
                  <a:srgbClr val="34495E"/>
                </a:solidFill>
              </a:defRPr>
            </a:pPr>
            <a:r>
              <a:t>│  ├── 🔴 P0: 核心服务熔断机制                             │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0"/>
            <a:ext cx="11277295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800" b="1">
                <a:solidFill>
                  <a:srgbClr val="2C3E50"/>
                </a:solidFill>
              </a:defRPr>
            </a:pPr>
            <a:r>
              <a:t>谢谢观看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